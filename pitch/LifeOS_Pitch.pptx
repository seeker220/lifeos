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[0:00] Don't read the slide. Say the name, say the tagline, move on. Energy here sets the whole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[0:10] Ask it as a real question and pause for the nod. This is a personal story, not a market stat — tell it that way. Land 'At least, I do' and let it sit for a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The reframe. Everyone in the room has tried a productivity app and quit. Name that. The point: organization is solved, execution isn't. Say 'Nothing' out loud and let it 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This is why the gap still exists in 2026 — it's structural, not a gap nobody noticed. Incumbents are financially incapable of shipping this. That's our permission to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The core demo idea in one slide. Read the sentence aloud as if you were typing it. Then hit the right column hard: goal, tasks, cap, alarm, memory. Close on 'it reaches into the phone and changes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[1:15] Only slide with architecture. Keep it to two sentences: one model call returns a reply plus typed actions, and exactly one component applies them. The 'database is the soul' line is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Breadth slide — do NOT read all nine. Sweep a hand across it and name three: mail to calendar, screen time and network, plugins. Say the rest is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[1:45] The fun one. Mention the personas by name. Then the real point: it drifts toward whatever actually moves you. This is where retention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[2:00] Technical credibility. Every judge has used an AI that forgot something. Explain: chat gets summarized, life state never does, and it's re-injected every turn. This is a real engineering choice, not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[2:15] Answers 'why the grand name'. Say the progression, then the honest long game: agents will need a layer that knows a person's goals. Don't oversell — 'hopefully' is fine, confidence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[2:30] Business credibility. The insight: retention comes from the outcome, not gamification. Someone who got the offer with LifeOS never churns. Name the wedge so it doesn't sound like 'everyone'.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[2:45] Pivot from vision to proof. Say plainly: this isn't slideware, there's an APK. Numbers are real — nine modules, 110 files, 26 action types, six screens,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[3:00] Don't read all eighteen. Point at each column header and give one example. Highlight the two nobody expects: the back button doesn't lift the block, and DNS blocking works in the browser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[3:15] Transition into the live demo. If demoing, stop talking and show beats 1-3 minimum. If time is short, show the overlay beat — that's the one people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[3:30] Forward-looking. Now / next / later. Then the money line: focus apps already charge for a dumb wall; we're charging for an accountability partner you can't hire.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[3:45] Land it and stop. Say both lines, then the tagline, then be quiet. Don't add anything after 'LifeOS takes the phone.'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148840"/>
            <a:ext cx="50292" cy="14173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2084831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200" b="1">
                <a:solidFill>
                  <a:srgbClr val="E8EEF5"/>
                </a:solidFill>
                <a:latin typeface="Montserrat"/>
              </a:rPr>
              <a:t>LifeOS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1272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A8C7FA"/>
                </a:solidFill>
                <a:latin typeface="Montserrat"/>
              </a:rPr>
              <a:t>Stop managing tasks. Start executing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794760"/>
            <a:ext cx="8595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97A3B2"/>
                </a:solidFill>
                <a:latin typeface="Noto Sans"/>
              </a:rPr>
              <a:t>A personal AI operating system that doesn't just plan your life — it enforces it, on the device, whether you feel like it or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16C7A"/>
                </a:solidFill>
                <a:latin typeface="Noto Sans"/>
              </a:rPr>
              <a:t>Hackathon prototype  ·  Native Android  ·  Working APK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WHERE THIS IDEA CAME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Ever felt like you're
procrastinating too much?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309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450" b="0">
                <a:solidFill>
                  <a:srgbClr val="E8EEF5"/>
                </a:solidFill>
                <a:latin typeface="Noto Sans"/>
              </a:rPr>
              <a:t>Your exam is in three weeks. The interview is a month out. You've been meaning to get fit since January.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450" b="0">
                <a:solidFill>
                  <a:srgbClr val="E8EEF5"/>
                </a:solidFill>
                <a:latin typeface="Noto Sans"/>
              </a:rPr>
              <a:t>So why are you forty minutes into a reels binge, or six tabs deep in a Reddit rabbit hole?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A8C7FA"/>
                </a:solidFill>
                <a:latin typeface="Montserrat"/>
              </a:rPr>
              <a:t>At least, I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That's not a market slide. That's my screen time — and probably yours.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286000"/>
            <a:ext cx="3931920" cy="320040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616C7A"/>
                </a:solidFill>
                <a:latin typeface="Montserrat"/>
              </a:rPr>
              <a:t>THE HONEST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0896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C8DFF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I don't need another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118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C8DFF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I don't need a nicer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C8DFF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I know exactly what I should be doing.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6177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C8DFF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I need something that will actually stop 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WHY EVERY PRODUCTIVITY APP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You don't lack a plan.
You lack enforcement.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4892040" cy="306324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616C7A"/>
                </a:solidFill>
                <a:latin typeface="Montserrat"/>
              </a:rPr>
              <a:t>WHAT EVERY APP GIVES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Lists, boards, and tags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58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Reminders you swipe 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Streaks you abandon on day four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731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A chatbot that writes a perfect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651760"/>
            <a:ext cx="4892040" cy="306324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2926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616C7A"/>
                </a:solidFill>
                <a:latin typeface="Montserrat"/>
              </a:rPr>
              <a:t>WHAT ACTUALLY STOPS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290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FFB4AB"/>
                </a:solidFill>
                <a:latin typeface="Montserrat"/>
              </a:rPr>
              <a:t>Nothing.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2452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Every one of them is a suggestion. The plan exists, sits there, and Instagram still wins.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People don't fail from disorganization. They fail at </a:t>
            </a:r>
            <a:r>
              <a:rPr sz="1300" b="1">
                <a:solidFill>
                  <a:srgbClr val="E8EEF5"/>
                </a:solidFill>
                <a:latin typeface="Montserrat"/>
              </a:rPr>
              <a:t>execution</a:t>
            </a:r>
            <a:r>
              <a:rPr sz="1300" b="0">
                <a:solidFill>
                  <a:srgbClr val="97A3B2"/>
                </a:solidFill>
                <a:latin typeface="Noto Sans"/>
              </a:rPr>
              <a:t> — and execution is the part nobody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WHY THE GAP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Nobody who owns your attention
will help you escape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375050" cy="228600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14983" y="2935224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31363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538728"/>
            <a:ext cx="2899562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YouTube watch time is the revenue line. An app that gets you off YouTube is an app that cuts their own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8322" y="2697480"/>
            <a:ext cx="3375050" cy="228600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646066" y="2935224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6066" y="31363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6066" y="3538728"/>
            <a:ext cx="2899562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Reels engagement is the product. Nothing they ship will ever be designed to make you scroll less.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9404" y="2697480"/>
            <a:ext cx="3375050" cy="228600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77148" y="2935224"/>
            <a:ext cx="384048" cy="41148"/>
          </a:xfrm>
          <a:prstGeom prst="rect">
            <a:avLst/>
          </a:prstGeom>
          <a:solidFill>
            <a:srgbClr val="FFD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31363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OS-level Screen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148" y="3538728"/>
            <a:ext cx="2899562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Shipped, but deliberately toothless. One tap to dismiss, because friction costs them engagement too.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30368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5468112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A third-party OS can be opinionated on purpose. </a:t>
            </a:r>
            <a:r>
              <a:rPr sz="1400" b="0">
                <a:solidFill>
                  <a:srgbClr val="97A3B2"/>
                </a:solidFill>
                <a:latin typeface="Noto Sans"/>
              </a:rPr>
              <a:t>That misalignment is the entire opening — and it isn't closing.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One sentence becomes
enforced device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5029200" cy="214884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A8C7FA"/>
                </a:solidFill>
                <a:latin typeface="Montserrat"/>
              </a:rPr>
              <a:t>YOU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8EEF5"/>
                </a:solidFill>
                <a:latin typeface="Noto Sans"/>
              </a:rPr>
              <a:t>“I have a DSA assignment due Tuesday, I keep doomscrolling Instagram, wake me at 7.”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20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4C8DFF"/>
                </a:solidFill>
                <a:latin typeface="Montserra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79" y="2331720"/>
            <a:ext cx="4830775" cy="33832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03720" y="25877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A8C7FA"/>
                </a:solidFill>
                <a:latin typeface="Montserrat"/>
              </a:rPr>
              <a:t>LIFEOS 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97180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1">
                <a:solidFill>
                  <a:srgbClr val="E8EEF5"/>
                </a:solidFill>
                <a:latin typeface="Montserrat"/>
              </a:rPr>
              <a:t>Goal</a:t>
            </a:r>
            <a:r>
              <a:rPr sz="1150" b="0">
                <a:solidFill>
                  <a:srgbClr val="97A3B2"/>
                </a:solidFill>
                <a:latin typeface="Noto Sans"/>
              </a:rPr>
              <a:t>  with a hard Tuesday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52044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1">
                <a:solidFill>
                  <a:srgbClr val="E8EEF5"/>
                </a:solidFill>
                <a:latin typeface="Montserrat"/>
              </a:rPr>
              <a:t>Tasks + study blocks</a:t>
            </a:r>
            <a:r>
              <a:rPr sz="1150" b="0">
                <a:solidFill>
                  <a:srgbClr val="97A3B2"/>
                </a:solidFill>
                <a:latin typeface="Noto Sans"/>
              </a:rPr>
              <a:t>  on your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06908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1">
                <a:solidFill>
                  <a:srgbClr val="E8EEF5"/>
                </a:solidFill>
                <a:latin typeface="Montserrat"/>
              </a:rPr>
              <a:t>Instagram</a:t>
            </a:r>
            <a:r>
              <a:rPr sz="1150" b="0">
                <a:solidFill>
                  <a:srgbClr val="97A3B2"/>
                </a:solidFill>
                <a:latin typeface="Noto Sans"/>
              </a:rPr>
              <a:t>  capped, then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6177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1">
                <a:solidFill>
                  <a:srgbClr val="E8EEF5"/>
                </a:solidFill>
                <a:latin typeface="Montserrat"/>
              </a:rPr>
              <a:t>7:00 alarm</a:t>
            </a:r>
            <a:r>
              <a:rPr sz="1150" b="0">
                <a:solidFill>
                  <a:srgbClr val="97A3B2"/>
                </a:solidFill>
                <a:latin typeface="Noto Sans"/>
              </a:rPr>
              <a:t>  armed in the system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16636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1">
                <a:solidFill>
                  <a:srgbClr val="E8EEF5"/>
                </a:solidFill>
                <a:latin typeface="Montserrat"/>
              </a:rPr>
              <a:t>Memory</a:t>
            </a:r>
            <a:r>
              <a:rPr sz="1150" b="0">
                <a:solidFill>
                  <a:srgbClr val="97A3B2"/>
                </a:solidFill>
                <a:latin typeface="Noto Sans"/>
              </a:rPr>
              <a:t>  “folds to Instagram at night”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E8EEF5"/>
                </a:solidFill>
                <a:latin typeface="Montserrat"/>
              </a:rPr>
              <a:t>It doesn't reply with a checklist. It reaches into the phone and changes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Intent → Plan → State → Enforce → 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9616"/>
            <a:ext cx="9539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One model call returns a spoken reply plus typed actions. One component applies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1907987" cy="2011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78408" y="2898648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099816"/>
            <a:ext cx="15056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02152"/>
            <a:ext cx="15056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Chat, or an email that just landed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0947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9547" y="2697480"/>
            <a:ext cx="1907987" cy="2011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60715" y="2898648"/>
            <a:ext cx="384048" cy="41148"/>
          </a:xfrm>
          <a:prstGeom prst="rect">
            <a:avLst/>
          </a:prstGeom>
          <a:solidFill>
            <a:srgbClr val="C7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0715" y="3099816"/>
            <a:ext cx="15056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0715" y="3502152"/>
            <a:ext cx="15056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Model returns reply + actions[]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3254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1854" y="2697480"/>
            <a:ext cx="1907987" cy="2011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343022" y="2898648"/>
            <a:ext cx="384048" cy="4114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3022" y="3099816"/>
            <a:ext cx="15056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3022" y="3502152"/>
            <a:ext cx="15056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Durable life state, outside the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561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161" y="2697480"/>
            <a:ext cx="1907987" cy="2011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525329" y="2898648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329" y="3099816"/>
            <a:ext cx="15056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Enforce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329" y="3502152"/>
            <a:ext cx="15056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Alarms, overlay, timeouts, DNS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7868" y="35204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6468" y="2697480"/>
            <a:ext cx="1907987" cy="2011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707636" y="2898648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636" y="3099816"/>
            <a:ext cx="15056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636" y="3502152"/>
            <a:ext cx="15056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Today, Goals, Focus, XP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074920"/>
            <a:ext cx="10637215" cy="105156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97280" y="5321808"/>
            <a:ext cx="99971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The model is the planner. The database is the soul. </a:t>
            </a:r>
            <a:r>
              <a:rPr sz="1300" b="0">
                <a:solidFill>
                  <a:srgbClr val="97A3B2"/>
                </a:solidFill>
                <a:latin typeface="Noto Sans"/>
              </a:rPr>
              <a:t>Exactly one component writes state, so the AI can never corrupt your goals — only propose changes to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What LifeOS is meant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9616"/>
            <a:ext cx="9539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A single place where planning, deadlines, habits, focus and enforcement live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78408" y="2350008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551176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Goal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53512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“Crack Google in a month” becomes tasks, habits, study blocks, caps and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8322" y="2148840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609490" y="2350008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9490" y="2551176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Schedule &amp; deadlines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2953512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Every commitment on one timeline, with a live risk score per deadline.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9404" y="2148840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240572" y="2350008"/>
            <a:ext cx="384048" cy="41148"/>
          </a:xfrm>
          <a:prstGeom prst="rect">
            <a:avLst/>
          </a:prstGeom>
          <a:solidFill>
            <a:srgbClr val="C7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0572" y="2551176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Mail →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0572" y="2953512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Exams and deadlines pulled out of your inbox and added for you.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83864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78408" y="3685032"/>
            <a:ext cx="384048" cy="41148"/>
          </a:xfrm>
          <a:prstGeom prst="rect">
            <a:avLst/>
          </a:prstGeom>
          <a:solidFill>
            <a:srgbClr val="C7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886200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Habits &amp; routines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288536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Bedtime and morning nudges, set dynamically from the day you just had.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8322" y="3483864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609490" y="3685032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9490" y="3886200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Focus enforcement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9490" y="4288536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Distracting apps covered by an overlay while a session is live.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9404" y="3483864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240572" y="3685032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0572" y="3886200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Screen time &amp;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0572" y="4288536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Daily per-app caps, plus on-device DNS blocking that kills the site too.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818888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78408" y="5020055"/>
            <a:ext cx="384048" cy="41148"/>
          </a:xfrm>
          <a:prstGeom prst="rect">
            <a:avLst/>
          </a:prstGeom>
          <a:solidFill>
            <a:srgbClr val="FFD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221223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Alarms that talk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5623559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Reminders and wake-ups spoken in your chosen persona's voice.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8322" y="4818888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609490" y="5020055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9490" y="5221223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Evolving personality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9490" y="5623559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It shouts or it's kind — and tunes toward whatever actually moves you.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39404" y="4818888"/>
            <a:ext cx="3375050" cy="1170432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240572" y="5020055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0572" y="5221223"/>
            <a:ext cx="297271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Plugins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0572" y="5623559"/>
            <a:ext cx="297271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WhatsApp, Moodle, Piazza, any site — auto-ingest what you'd otherwise miss.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THE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It shouts, or it's kind.
You choose — then it learns.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375050" cy="17830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14983" y="2935224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31363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538728"/>
            <a:ext cx="2899562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Blunt and terse. Holds you to the deadline. No pep talk, no excuses.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8322" y="2697480"/>
            <a:ext cx="3375050" cy="17830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646066" y="2935224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6066" y="31363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Supportive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6066" y="3538728"/>
            <a:ext cx="2899562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Warm and encouraging. Forgives one slip, then gently gets you 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9404" y="2697480"/>
            <a:ext cx="3375050" cy="17830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77148" y="2935224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31363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Coach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148" y="3538728"/>
            <a:ext cx="2899562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Energetic and competitive. Frames the whole week as training.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00600"/>
            <a:ext cx="10637215" cy="132588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The persona is the surface. Underneath, it watches how you respond — when you fold, what you ignore, how technical you want the answer, how hard you need to be pushed — and drifts its tone toward what actually gets you working. Same engine, different voice.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THE HARD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Chat forgets. Your life shouldn't.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9616"/>
            <a:ext cx="9539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Every AI wrapper loses your goal the moment its context window is summarized.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4892040" cy="26974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26791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616C7A"/>
                </a:solidFill>
                <a:latin typeface="Montserrat"/>
              </a:rPr>
              <a:t>EPHEMERAL  ·  COMPACTABLE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Chat transcript, last 20 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93592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Older turns folded into a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32504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Raw messages deleted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71416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616C7A"/>
                </a:solidFill>
                <a:latin typeface="Noto Sans"/>
              </a:rPr>
              <a:t>—  </a:t>
            </a:r>
            <a:r>
              <a:rPr sz="1150" b="0">
                <a:solidFill>
                  <a:srgbClr val="97A3B2"/>
                </a:solidFill>
                <a:latin typeface="Noto Sans"/>
              </a:rPr>
              <a:t>Tokens are finite — this must happen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423160"/>
            <a:ext cx="4892040" cy="269748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26791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A8C7FA"/>
                </a:solidFill>
                <a:latin typeface="Montserrat"/>
              </a:rPr>
              <a:t>DURABLE  ·  NEVER COMPACTED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154680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0">
                <a:solidFill>
                  <a:srgbClr val="97A3B2"/>
                </a:solidFill>
                <a:latin typeface="Noto Sans"/>
              </a:rPr>
              <a:t>Goals, tasks, events, habits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93592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0">
                <a:solidFill>
                  <a:srgbClr val="97A3B2"/>
                </a:solidFill>
                <a:latin typeface="Noto Sans"/>
              </a:rPr>
              <a:t>Schedule blocks and alarms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032504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0">
                <a:solidFill>
                  <a:srgbClr val="97A3B2"/>
                </a:solidFill>
                <a:latin typeface="Noto Sans"/>
              </a:rPr>
              <a:t>App caps and focus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471416"/>
            <a:ext cx="4206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150" b="0">
                <a:solidFill>
                  <a:srgbClr val="97A3B2"/>
                </a:solidFill>
                <a:latin typeface="Noto Sans"/>
              </a:rPr>
              <a:t>Memory facts about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Your goals live in a database the summarizer cannot touch, and get re-injected into every single turn. </a:t>
            </a:r>
            <a:r>
              <a:rPr sz="1300" b="1">
                <a:solidFill>
                  <a:srgbClr val="E8EEF5"/>
                </a:solidFill>
                <a:latin typeface="Montserrat"/>
              </a:rPr>
              <a:t>Forgetting is a bug we designed out, not a limitation we live with.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THE LONG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Why call it an operating system?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1966508" cy="868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697480"/>
            <a:ext cx="16739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97A3B2"/>
                </a:solidFill>
                <a:latin typeface="Noto Sans"/>
              </a:rPr>
              <a:t>Task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892" y="27889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916" y="2514600"/>
            <a:ext cx="1966508" cy="868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1220" y="2697480"/>
            <a:ext cx="16739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97A3B2"/>
                </a:solidFill>
                <a:latin typeface="Noto Sans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0569" y="27889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593" y="2514600"/>
            <a:ext cx="1966508" cy="868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58897" y="2697480"/>
            <a:ext cx="16739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97A3B2"/>
                </a:solidFill>
                <a:latin typeface="Noto Sans"/>
              </a:rPr>
              <a:t>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8245" y="27889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0269" y="2514600"/>
            <a:ext cx="1966508" cy="86868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26573" y="2697480"/>
            <a:ext cx="16739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E8EEF5"/>
                </a:solidFill>
                <a:latin typeface="Montserrat"/>
              </a:rPr>
              <a:t>Accountability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5922" y="278892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616C7A"/>
                </a:solidFill>
                <a:latin typeface="Montserrat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47946" y="2514600"/>
            <a:ext cx="1966508" cy="86868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94250" y="2697480"/>
            <a:ext cx="16739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E8EEF5"/>
                </a:solidFill>
                <a:latin typeface="Montserrat"/>
              </a:rPr>
              <a:t>Life companion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94760"/>
            <a:ext cx="10637215" cy="1874519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88720" y="4069080"/>
            <a:ext cx="98142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800"/>
              </a:spcAft>
            </a:pPr>
            <a:r>
              <a:rPr sz="1500" b="1">
                <a:solidFill>
                  <a:srgbClr val="A8C7FA"/>
                </a:solidFill>
                <a:latin typeface="Montserrat"/>
              </a:rPr>
              <a:t>Today it runs one life on one phone.</a:t>
            </a:r>
          </a:p>
          <a:p>
            <a:pPr algn="l">
              <a:lnSpc>
                <a:spcPct val="142000"/>
              </a:lnSpc>
              <a:spcAft>
                <a:spcPts val="800"/>
              </a:spcAft>
            </a:pPr>
            <a:r>
              <a:rPr sz="1300" b="0">
                <a:solidFill>
                  <a:srgbClr val="97A3B2"/>
                </a:solidFill>
                <a:latin typeface="Noto Sans"/>
              </a:rPr>
              <a:t>One day there will be autonomous agents and robots acting on our behalf. They will need a layer that already knows a person's goals, constraints, habits and priorities — and is trusted to act on them. We're building that layer, and starting where the distraction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WHY USERS STAY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Retention isn't a streak.
It's a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8EEF5"/>
                </a:solidFill>
                <a:latin typeface="Noto Sans"/>
              </a:rPr>
              <a:t>When someone actually cracks the interview, or finally loses the 15 kg, with LifeOS pushing them the whole way — the app stops being a tool they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A8C7FA"/>
                </a:solidFill>
                <a:latin typeface="Montserrat"/>
              </a:rPr>
              <a:t>It becomes the reason it happened.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196535" cy="352044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37959" y="2788920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962656"/>
            <a:ext cx="4556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Your history is the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300984"/>
            <a:ext cx="4556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97A3B2"/>
                </a:solidFill>
                <a:latin typeface="Noto Sans"/>
              </a:rPr>
              <a:t>Weeks of goals, failures, and what actually worked on you. A fresh chatbot starts at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3867911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4041648"/>
            <a:ext cx="4556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Attached to 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379975"/>
            <a:ext cx="4556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97A3B2"/>
                </a:solidFill>
                <a:latin typeface="Noto Sans"/>
              </a:rPr>
              <a:t>Nobody churns from the thing that got them the offer. The bond is the result, not the 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59" y="4946904"/>
            <a:ext cx="384048" cy="41148"/>
          </a:xfrm>
          <a:prstGeom prst="rect">
            <a:avLst/>
          </a:prstGeom>
          <a:solidFill>
            <a:srgbClr val="C7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5120640"/>
            <a:ext cx="4556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The wedge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5458968"/>
            <a:ext cx="4556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97A3B2"/>
                </a:solidFill>
                <a:latin typeface="Noto Sans"/>
              </a:rPr>
              <a:t>Students with a hard deadline this month and a documented distraction problem. High pain, high urgency.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BUILT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Not a mockup.
A working Android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6543"/>
            <a:ext cx="9539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7A3B2"/>
                </a:solidFill>
                <a:latin typeface="Noto Sans"/>
              </a:rPr>
              <a:t>Native Kotlin and Jetpack Compose, nine Gradle modules, installable APK on a real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620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A8C7FA"/>
                </a:solidFill>
                <a:latin typeface="Montserrat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16204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7A3B2"/>
                </a:solidFill>
                <a:latin typeface="Noto Sans"/>
              </a:rPr>
              <a:t>Gradle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0589" y="2743200"/>
            <a:ext cx="1620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0589" y="3255264"/>
            <a:ext cx="16204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7A3B2"/>
                </a:solidFill>
                <a:latin typeface="Noto Sans"/>
              </a:rPr>
              <a:t>Kotlin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2743200"/>
            <a:ext cx="1620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A8C7FA"/>
                </a:solidFill>
                <a:latin typeface="Montserrat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3255264"/>
            <a:ext cx="16204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7A3B2"/>
                </a:solidFill>
                <a:latin typeface="Noto Sans"/>
              </a:rPr>
              <a:t>typed AI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2743200"/>
            <a:ext cx="1620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255264"/>
            <a:ext cx="16204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7A3B2"/>
                </a:solidFill>
                <a:latin typeface="Noto Sans"/>
              </a:rPr>
              <a:t>app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0636" y="2743200"/>
            <a:ext cx="1620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0636" y="3255264"/>
            <a:ext cx="16204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7A3B2"/>
                </a:solidFill>
                <a:latin typeface="Noto Sans"/>
              </a:rPr>
              <a:t>test suites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3986" y="2743200"/>
            <a:ext cx="16204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E8EEF5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3986" y="3255264"/>
            <a:ext cx="16204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7A3B2"/>
                </a:solidFill>
                <a:latin typeface="Noto Sans"/>
              </a:rPr>
              <a:t>installable APK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14800"/>
            <a:ext cx="10637215" cy="201168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99971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616C7A"/>
                </a:solidFill>
                <a:latin typeface="Montserrat"/>
              </a:rPr>
              <a:t>MODULE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:core  </a:t>
            </a:r>
            <a:r>
              <a:rPr sz="1050" b="0">
                <a:solidFill>
                  <a:srgbClr val="97A3B2"/>
                </a:solidFill>
                <a:latin typeface="Noto Sans"/>
              </a:rPr>
              <a:t>models, actions, 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658" y="480060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:domain  </a:t>
            </a:r>
            <a:r>
              <a:rPr sz="1050" b="0">
                <a:solidFill>
                  <a:srgbClr val="97A3B2"/>
                </a:solidFill>
                <a:latin typeface="Noto Sans"/>
              </a:rPr>
              <a:t>executor, risk, projection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2036" y="480060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:agent  </a:t>
            </a:r>
            <a:r>
              <a:rPr sz="1050" b="0">
                <a:solidFill>
                  <a:srgbClr val="97A3B2"/>
                </a:solidFill>
                <a:latin typeface="Noto Sans"/>
              </a:rPr>
              <a:t>LLM client, prompts,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8464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:email  </a:t>
            </a:r>
            <a:r>
              <a:rPr sz="1050" b="0">
                <a:solidFill>
                  <a:srgbClr val="97A3B2"/>
                </a:solidFill>
                <a:latin typeface="Noto Sans"/>
              </a:rPr>
              <a:t>IMAP, classifier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658" y="518464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:data  </a:t>
            </a:r>
            <a:r>
              <a:rPr sz="1050" b="0">
                <a:solidFill>
                  <a:srgbClr val="97A3B2"/>
                </a:solidFill>
                <a:latin typeface="Noto Sans"/>
              </a:rPr>
              <a:t>durable store, secrets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2036" y="518464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:enforce  </a:t>
            </a:r>
            <a:r>
              <a:rPr sz="1050" b="0">
                <a:solidFill>
                  <a:srgbClr val="97A3B2"/>
                </a:solidFill>
                <a:latin typeface="Noto Sans"/>
              </a:rPr>
              <a:t>focus, alarms, VPN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68696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:calendar  </a:t>
            </a:r>
            <a:r>
              <a:rPr sz="1050" b="0">
                <a:solidFill>
                  <a:srgbClr val="97A3B2"/>
                </a:solidFill>
                <a:latin typeface="Noto Sans"/>
              </a:rPr>
              <a:t>device calendar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9658" y="5568696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:ui  </a:t>
            </a:r>
            <a:r>
              <a:rPr sz="1050" b="0">
                <a:solidFill>
                  <a:srgbClr val="97A3B2"/>
                </a:solidFill>
                <a:latin typeface="Noto Sans"/>
              </a:rPr>
              <a:t>Compose screens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2036" y="5568696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A8C7FA"/>
                </a:solidFill>
                <a:latin typeface="Montserrat"/>
              </a:rPr>
              <a:t>:app  </a:t>
            </a:r>
            <a:r>
              <a:rPr sz="1050" b="0">
                <a:solidFill>
                  <a:srgbClr val="97A3B2"/>
                </a:solidFill>
                <a:latin typeface="Noto Sans"/>
              </a:rPr>
              <a:t>wiring, manifest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WORKING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What's live in the APK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3375050" cy="3749039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33271" y="2651760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52928"/>
            <a:ext cx="28629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EEF5"/>
                </a:solidFill>
                <a:latin typeface="Montserrat"/>
              </a:rPr>
              <a:t>AGENT &amp;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3101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8C7FA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Chat with three personas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673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8C7FA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One sentence → a whole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2245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8C7FA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26 typed actions, tolerant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6817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8C7FA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Life state survives chat compaction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51389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8C7FA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Deterministic deadline risk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55961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8C7FA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Offline fallback if the API dies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8322" y="2377440"/>
            <a:ext cx="3375050" cy="3749039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664354" y="2651760"/>
            <a:ext cx="384048" cy="41148"/>
          </a:xfrm>
          <a:prstGeom prst="rect">
            <a:avLst/>
          </a:prstGeom>
          <a:solidFill>
            <a:srgbClr val="F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4354" y="2852928"/>
            <a:ext cx="28629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EEF5"/>
                </a:solidFill>
                <a:latin typeface="Montserrat"/>
              </a:rPr>
              <a:t>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4354" y="33101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B4AB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Focus overlay via usage-stats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4354" y="37673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B4AB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Back button doesn't lift the 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4354" y="42245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B4AB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Per-app daily time caps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4354" y="46817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B4AB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On-device DNS blocking (VpnService)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4354" y="51389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B4AB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Exact alarms, full-screen + spoken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4354" y="55961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B4AB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Survives reboot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9404" y="2377440"/>
            <a:ext cx="3375050" cy="3749039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295436" y="2651760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5436" y="2852928"/>
            <a:ext cx="28629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EEF5"/>
                </a:solidFill>
                <a:latin typeface="Montserrat"/>
              </a:rPr>
              <a:t>INGESTION &amp; SURFACES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5436" y="33101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IMAP fetch + rule-based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5436" y="37673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Promote an email into your 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5436" y="42245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Google Calendar via device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5436" y="46817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Today, Goals, Inbox, Focus, More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5436" y="51389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Encrypted credential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5436" y="5596128"/>
            <a:ext cx="2862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F0BE"/>
                </a:solidFill>
                <a:latin typeface="Noto Sans"/>
              </a:rPr>
              <a:t>✓  </a:t>
            </a:r>
            <a:r>
              <a:rPr sz="1050" b="0">
                <a:solidFill>
                  <a:srgbClr val="97A3B2"/>
                </a:solidFill>
                <a:latin typeface="Noto Sans"/>
              </a:rPr>
              <a:t>Permission onboarding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SEE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Ninety seconds, six 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C8D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One sentence, twelve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2551176"/>
            <a:ext cx="5790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A goal is typed. Goals and Today fill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035808"/>
            <a:ext cx="10180015" cy="7315"/>
          </a:xfrm>
          <a:prstGeom prst="rect">
            <a:avLst/>
          </a:prstGeom>
          <a:solidFill>
            <a:srgbClr val="1E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9544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C8D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7296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It's real device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3200400"/>
            <a:ext cx="5790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Focus on. Leave the app. The overlay slams in front.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3685032"/>
            <a:ext cx="10180015" cy="7315"/>
          </a:xfrm>
          <a:prstGeom prst="rect">
            <a:avLst/>
          </a:prstGeom>
          <a:solidFill>
            <a:srgbClr val="1E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C8D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22191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Back doesn't save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3849624"/>
            <a:ext cx="5790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The block holds; you land on the home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4334256"/>
            <a:ext cx="10180015" cy="7315"/>
          </a:xfrm>
          <a:prstGeom prst="rect">
            <a:avLst/>
          </a:prstGeom>
          <a:solidFill>
            <a:srgbClr val="1E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2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C8D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71416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It kills the site too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4498848"/>
            <a:ext cx="5790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DNS blocked on-device — the browser can't reach it either.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983480"/>
            <a:ext cx="10180015" cy="7315"/>
          </a:xfrm>
          <a:prstGeom prst="rect">
            <a:avLst/>
          </a:prstGeom>
          <a:solidFill>
            <a:srgbClr val="1E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57216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C8DFF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1206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It wakes you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5148072"/>
            <a:ext cx="5790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Full-screen alarm, persona line spoken aloud.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5632704"/>
            <a:ext cx="10180015" cy="7315"/>
          </a:xfrm>
          <a:prstGeom prst="rect">
            <a:avLst/>
          </a:prstGeom>
          <a:solidFill>
            <a:srgbClr val="1E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C8DFF"/>
                </a:solidFill>
                <a:latin typeface="Montserrat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76986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EF5"/>
                </a:solidFill>
                <a:latin typeface="Montserrat"/>
              </a:rPr>
              <a:t>It doesn't forget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59" y="5797296"/>
            <a:ext cx="5790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7A3B2"/>
                </a:solidFill>
                <a:latin typeface="Noto Sans"/>
              </a:rPr>
              <a:t>Compact the chat. Message count drops. Life state doesn't.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16C7A"/>
                </a:solidFill>
                <a:latin typeface="Noto Sans"/>
              </a:rPr>
              <a:t>LifeOS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"/>
            <a:ext cx="50292" cy="1828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C7FA"/>
                </a:solidFill>
                <a:latin typeface="Montserrat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E8EEF5"/>
                </a:solidFill>
                <a:latin typeface="Montserrat"/>
              </a:rPr>
              <a:t>From prototype to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375050" cy="219456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14983" y="2706624"/>
            <a:ext cx="384048" cy="41148"/>
          </a:xfrm>
          <a:prstGeom prst="rect">
            <a:avLst/>
          </a:prstGeom>
          <a:solidFill>
            <a:srgbClr val="5AF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9077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Now (shipped)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310128"/>
            <a:ext cx="2899562" cy="1115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Agent, durable life state, focus overlay, app caps, DNS blocking, alarms, IMAP inbox, calendar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8322" y="2468880"/>
            <a:ext cx="3375050" cy="219456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646066" y="2706624"/>
            <a:ext cx="384048" cy="4114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6066" y="29077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Next few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6066" y="3310128"/>
            <a:ext cx="2899562" cy="1115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Plugin SDK for WhatsApp, Moodle, Piazza and arbitrary sites. Adaptive replanning when you fall behind. Personality that drifts with your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9404" y="2468880"/>
            <a:ext cx="3375050" cy="2194560"/>
          </a:xfrm>
          <a:prstGeom prst="roundRect">
            <a:avLst>
              <a:gd name="adj" fmla="val 4500"/>
            </a:avLst>
          </a:prstGeom>
          <a:solidFill>
            <a:srgbClr val="11151C"/>
          </a:solidFill>
          <a:ln w="12700">
            <a:solidFill>
              <a:srgbClr val="1E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77148" y="2706624"/>
            <a:ext cx="384048" cy="41148"/>
          </a:xfrm>
          <a:prstGeom prst="rect">
            <a:avLst/>
          </a:prstGeom>
          <a:solidFill>
            <a:srgbClr val="C7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148" y="2907792"/>
            <a:ext cx="289956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EF5"/>
                </a:solidFill>
                <a:latin typeface="Montserrat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148" y="3310128"/>
            <a:ext cx="2899562" cy="1115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97A3B2"/>
                </a:solidFill>
                <a:latin typeface="Noto Sans"/>
              </a:rPr>
              <a:t>Health signals into planning. Opportunity detection. Chief-of-staff mode that finds your deadlines before you 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92040"/>
            <a:ext cx="10637215" cy="1234440"/>
          </a:xfrm>
          <a:prstGeom prst="roundRect">
            <a:avLst>
              <a:gd name="adj" fmla="val 4500"/>
            </a:avLst>
          </a:prstGeom>
          <a:solidFill>
            <a:srgbClr val="171C25"/>
          </a:solidFill>
          <a:ln w="12700">
            <a:solidFill>
              <a:srgbClr val="284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A8C7FA"/>
                </a:solidFill>
                <a:latin typeface="Montserrat"/>
              </a:rPr>
              <a:t>Model: </a:t>
            </a:r>
            <a:r>
              <a:rPr sz="1250" b="0">
                <a:solidFill>
                  <a:srgbClr val="97A3B2"/>
                </a:solidFill>
                <a:latin typeface="Noto Sans"/>
              </a:rPr>
              <a:t>free core enforcement, paid personality packs and deep integrations. Focus apps already charge ten dollars a month for a dumb wall — we're charging for an accountability partner you can't otherwise hire.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77440"/>
            <a:ext cx="50292" cy="169164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28600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>
                <a:solidFill>
                  <a:srgbClr val="E8EEF5"/>
                </a:solidFill>
                <a:latin typeface="Montserrat"/>
              </a:rPr>
              <a:t>ChatGPT writes the plan.</a:t>
            </a:r>
          </a:p>
          <a:p>
            <a:pPr algn="l">
              <a:lnSpc>
                <a:spcPct val="116000"/>
              </a:lnSpc>
            </a:pPr>
            <a:r>
              <a:rPr sz="4000" b="1">
                <a:solidFill>
                  <a:srgbClr val="A8C7FA"/>
                </a:solidFill>
                <a:latin typeface="Montserrat"/>
              </a:rPr>
              <a:t>LifeOS takes the phone.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389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7A3B2"/>
                </a:solidFill>
                <a:latin typeface="Noto Sans"/>
              </a:rPr>
              <a:t>Stop managing tasks. Start executing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16C7A"/>
                </a:solidFill>
                <a:latin typeface="Noto Sans"/>
              </a:rPr>
              <a:t>Working APK, on a real device,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